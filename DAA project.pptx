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9" r:id="rId3"/>
    <p:sldId id="270" r:id="rId4"/>
    <p:sldId id="277" r:id="rId5"/>
    <p:sldId id="278" r:id="rId6"/>
    <p:sldId id="279" r:id="rId7"/>
    <p:sldId id="282" r:id="rId8"/>
    <p:sldId id="280" r:id="rId9"/>
    <p:sldId id="281" r:id="rId10"/>
    <p:sldId id="266" r:id="rId11"/>
  </p:sldIdLst>
  <p:sldSz cx="12192000" cy="6858000"/>
  <p:notesSz cx="12192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939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" roundtripDataSignature="AMtx7mjqaEJF3Jv29g/oR/va8+a7sQBm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BD6112-FF36-4027-9709-63B54C2095CB}" v="15" dt="2026-04-20T03:46:10.878"/>
  </p1510:revLst>
</p1510:revInfo>
</file>

<file path=ppt/tableStyles.xml><?xml version="1.0" encoding="utf-8"?>
<a:tblStyleLst xmlns:a="http://schemas.openxmlformats.org/drawingml/2006/main" def="{491DBE5D-E312-4B21-9E5E-1AE7C8B9E3E7}">
  <a:tblStyle styleId="{491DBE5D-E312-4B21-9E5E-1AE7C8B9E3E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chemeClr val="dk1">
              <a:alpha val="20000"/>
            </a:scheme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chemeClr val="dk1">
              <a:alpha val="20000"/>
            </a:scheme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60" y="324"/>
      </p:cViewPr>
      <p:guideLst>
        <p:guide orient="horz" pos="2939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advijay97@gmail.com" userId="cf4e5c97699ef082" providerId="LiveId" clId="{A8B44BE2-B223-4904-A4C7-E2FC4BE79FC8}"/>
    <pc:docChg chg="undo custSel modSld">
      <pc:chgData name="harshadvijay97@gmail.com" userId="cf4e5c97699ef082" providerId="LiveId" clId="{A8B44BE2-B223-4904-A4C7-E2FC4BE79FC8}" dt="2026-04-30T14:51:12.811" v="76" actId="1076"/>
      <pc:docMkLst>
        <pc:docMk/>
      </pc:docMkLst>
      <pc:sldChg chg="modSp mod">
        <pc:chgData name="harshadvijay97@gmail.com" userId="cf4e5c97699ef082" providerId="LiveId" clId="{A8B44BE2-B223-4904-A4C7-E2FC4BE79FC8}" dt="2026-04-20T03:36:23.095" v="41" actId="20577"/>
        <pc:sldMkLst>
          <pc:docMk/>
          <pc:sldMk cId="0" sldId="256"/>
        </pc:sldMkLst>
        <pc:spChg chg="mod">
          <ac:chgData name="harshadvijay97@gmail.com" userId="cf4e5c97699ef082" providerId="LiveId" clId="{A8B44BE2-B223-4904-A4C7-E2FC4BE79FC8}" dt="2026-04-20T03:36:11.220" v="23" actId="14100"/>
          <ac:spMkLst>
            <pc:docMk/>
            <pc:sldMk cId="0" sldId="256"/>
            <ac:spMk id="3" creationId="{3C231FA1-7CA4-4B46-369C-A002334C79EF}"/>
          </ac:spMkLst>
        </pc:spChg>
        <pc:spChg chg="mod">
          <ac:chgData name="harshadvijay97@gmail.com" userId="cf4e5c97699ef082" providerId="LiveId" clId="{A8B44BE2-B223-4904-A4C7-E2FC4BE79FC8}" dt="2026-04-20T03:36:23.095" v="41" actId="20577"/>
          <ac:spMkLst>
            <pc:docMk/>
            <pc:sldMk cId="0" sldId="256"/>
            <ac:spMk id="45" creationId="{00000000-0000-0000-0000-000000000000}"/>
          </ac:spMkLst>
        </pc:spChg>
      </pc:sldChg>
      <pc:sldChg chg="addSp modSp mod">
        <pc:chgData name="harshadvijay97@gmail.com" userId="cf4e5c97699ef082" providerId="LiveId" clId="{A8B44BE2-B223-4904-A4C7-E2FC4BE79FC8}" dt="2026-04-20T03:40:49.875" v="56" actId="14100"/>
        <pc:sldMkLst>
          <pc:docMk/>
          <pc:sldMk cId="1329209870" sldId="269"/>
        </pc:sldMkLst>
        <pc:spChg chg="mod">
          <ac:chgData name="harshadvijay97@gmail.com" userId="cf4e5c97699ef082" providerId="LiveId" clId="{A8B44BE2-B223-4904-A4C7-E2FC4BE79FC8}" dt="2026-04-20T03:40:49.875" v="56" actId="14100"/>
          <ac:spMkLst>
            <pc:docMk/>
            <pc:sldMk cId="1329209870" sldId="269"/>
            <ac:spMk id="2" creationId="{00000000-0000-0000-0000-000000000000}"/>
          </ac:spMkLst>
        </pc:spChg>
      </pc:sldChg>
      <pc:sldChg chg="modSp mod">
        <pc:chgData name="harshadvijay97@gmail.com" userId="cf4e5c97699ef082" providerId="LiveId" clId="{A8B44BE2-B223-4904-A4C7-E2FC4BE79FC8}" dt="2026-04-20T03:43:46.365" v="71" actId="255"/>
        <pc:sldMkLst>
          <pc:docMk/>
          <pc:sldMk cId="3493374098" sldId="270"/>
        </pc:sldMkLst>
        <pc:spChg chg="mod">
          <ac:chgData name="harshadvijay97@gmail.com" userId="cf4e5c97699ef082" providerId="LiveId" clId="{A8B44BE2-B223-4904-A4C7-E2FC4BE79FC8}" dt="2026-04-20T03:42:45.197" v="64" actId="255"/>
          <ac:spMkLst>
            <pc:docMk/>
            <pc:sldMk cId="3493374098" sldId="270"/>
            <ac:spMk id="7" creationId="{00000000-0000-0000-0000-000000000000}"/>
          </ac:spMkLst>
        </pc:spChg>
        <pc:spChg chg="mod">
          <ac:chgData name="harshadvijay97@gmail.com" userId="cf4e5c97699ef082" providerId="LiveId" clId="{A8B44BE2-B223-4904-A4C7-E2FC4BE79FC8}" dt="2026-04-20T03:43:46.365" v="71" actId="255"/>
          <ac:spMkLst>
            <pc:docMk/>
            <pc:sldMk cId="3493374098" sldId="270"/>
            <ac:spMk id="9" creationId="{00000000-0000-0000-0000-000000000000}"/>
          </ac:spMkLst>
        </pc:spChg>
      </pc:sldChg>
      <pc:sldChg chg="modSp">
        <pc:chgData name="harshadvijay97@gmail.com" userId="cf4e5c97699ef082" providerId="LiveId" clId="{A8B44BE2-B223-4904-A4C7-E2FC4BE79FC8}" dt="2026-04-20T03:46:10.878" v="72"/>
        <pc:sldMkLst>
          <pc:docMk/>
          <pc:sldMk cId="124422832" sldId="277"/>
        </pc:sldMkLst>
        <pc:spChg chg="mod">
          <ac:chgData name="harshadvijay97@gmail.com" userId="cf4e5c97699ef082" providerId="LiveId" clId="{A8B44BE2-B223-4904-A4C7-E2FC4BE79FC8}" dt="2026-04-20T03:46:10.878" v="72"/>
          <ac:spMkLst>
            <pc:docMk/>
            <pc:sldMk cId="124422832" sldId="277"/>
            <ac:spMk id="3" creationId="{00000000-0000-0000-0000-000000000000}"/>
          </ac:spMkLst>
        </pc:spChg>
      </pc:sldChg>
      <pc:sldChg chg="addSp delSp modSp mod">
        <pc:chgData name="harshadvijay97@gmail.com" userId="cf4e5c97699ef082" providerId="LiveId" clId="{A8B44BE2-B223-4904-A4C7-E2FC4BE79FC8}" dt="2026-04-30T14:51:12.811" v="76" actId="1076"/>
        <pc:sldMkLst>
          <pc:docMk/>
          <pc:sldMk cId="2152831573" sldId="282"/>
        </pc:sldMkLst>
        <pc:picChg chg="del">
          <ac:chgData name="harshadvijay97@gmail.com" userId="cf4e5c97699ef082" providerId="LiveId" clId="{A8B44BE2-B223-4904-A4C7-E2FC4BE79FC8}" dt="2026-04-30T14:50:34.194" v="73" actId="478"/>
          <ac:picMkLst>
            <pc:docMk/>
            <pc:sldMk cId="2152831573" sldId="282"/>
            <ac:picMk id="5" creationId="{00000000-0000-0000-0000-000000000000}"/>
          </ac:picMkLst>
        </pc:picChg>
        <pc:picChg chg="add mod">
          <ac:chgData name="harshadvijay97@gmail.com" userId="cf4e5c97699ef082" providerId="LiveId" clId="{A8B44BE2-B223-4904-A4C7-E2FC4BE79FC8}" dt="2026-04-30T14:51:12.811" v="76" actId="1076"/>
          <ac:picMkLst>
            <pc:docMk/>
            <pc:sldMk cId="2152831573" sldId="282"/>
            <ac:picMk id="6" creationId="{8978959D-F035-2258-63B6-E23BFD61625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0177185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  <p:sp>
        <p:nvSpPr>
          <p:cNvPr id="42" name="Google Shape;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789141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>
          <a:extLst>
            <a:ext uri="{FF2B5EF4-FFF2-40B4-BE49-F238E27FC236}">
              <a16:creationId xmlns:a16="http://schemas.microsoft.com/office/drawing/2014/main" id="{BEC1D32C-C78A-BED2-A6DE-5FED88FD6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588bb4af59_0_6:notes">
            <a:extLst>
              <a:ext uri="{FF2B5EF4-FFF2-40B4-BE49-F238E27FC236}">
                <a16:creationId xmlns:a16="http://schemas.microsoft.com/office/drawing/2014/main" id="{23AEF826-F166-56A1-F942-EBB344F2EC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dirty="0"/>
          </a:p>
        </p:txBody>
      </p:sp>
      <p:sp>
        <p:nvSpPr>
          <p:cNvPr id="71" name="Google Shape;71;g2588bb4af59_0_6:notes">
            <a:extLst>
              <a:ext uri="{FF2B5EF4-FFF2-40B4-BE49-F238E27FC236}">
                <a16:creationId xmlns:a16="http://schemas.microsoft.com/office/drawing/2014/main" id="{67EBCEFD-88E7-E5ED-59E2-9E3E121B75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808078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>
          <a:extLst>
            <a:ext uri="{FF2B5EF4-FFF2-40B4-BE49-F238E27FC236}">
              <a16:creationId xmlns:a16="http://schemas.microsoft.com/office/drawing/2014/main" id="{971F33E0-9FFA-14C9-DC46-7AC85D359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588bb4af59_0_6:notes">
            <a:extLst>
              <a:ext uri="{FF2B5EF4-FFF2-40B4-BE49-F238E27FC236}">
                <a16:creationId xmlns:a16="http://schemas.microsoft.com/office/drawing/2014/main" id="{A9443468-B5D8-B5C7-1ADE-610100C3C8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  <p:sp>
        <p:nvSpPr>
          <p:cNvPr id="71" name="Google Shape;71;g2588bb4af59_0_6:notes">
            <a:extLst>
              <a:ext uri="{FF2B5EF4-FFF2-40B4-BE49-F238E27FC236}">
                <a16:creationId xmlns:a16="http://schemas.microsoft.com/office/drawing/2014/main" id="{9204BA17-DC35-E9B5-6819-D50533AD09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73299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>
          <a:extLst>
            <a:ext uri="{FF2B5EF4-FFF2-40B4-BE49-F238E27FC236}">
              <a16:creationId xmlns:a16="http://schemas.microsoft.com/office/drawing/2014/main" id="{B0E36355-77B8-2810-5681-F8B23E182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588bb4af59_0_6:notes">
            <a:extLst>
              <a:ext uri="{FF2B5EF4-FFF2-40B4-BE49-F238E27FC236}">
                <a16:creationId xmlns:a16="http://schemas.microsoft.com/office/drawing/2014/main" id="{FE36E8B8-FBD9-3A82-01BA-2187326DCF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  <p:sp>
        <p:nvSpPr>
          <p:cNvPr id="71" name="Google Shape;71;g2588bb4af59_0_6:notes">
            <a:extLst>
              <a:ext uri="{FF2B5EF4-FFF2-40B4-BE49-F238E27FC236}">
                <a16:creationId xmlns:a16="http://schemas.microsoft.com/office/drawing/2014/main" id="{FB42D535-88EC-4C2E-FD5A-102291ECD4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344767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>
          <a:extLst>
            <a:ext uri="{FF2B5EF4-FFF2-40B4-BE49-F238E27FC236}">
              <a16:creationId xmlns:a16="http://schemas.microsoft.com/office/drawing/2014/main" id="{8ABCD91A-53DC-B64D-49EB-F5E6448A3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588bb4af59_0_6:notes">
            <a:extLst>
              <a:ext uri="{FF2B5EF4-FFF2-40B4-BE49-F238E27FC236}">
                <a16:creationId xmlns:a16="http://schemas.microsoft.com/office/drawing/2014/main" id="{9D65722D-3FDD-F793-0F59-B9BFFD07A4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  <p:sp>
        <p:nvSpPr>
          <p:cNvPr id="71" name="Google Shape;71;g2588bb4af59_0_6:notes">
            <a:extLst>
              <a:ext uri="{FF2B5EF4-FFF2-40B4-BE49-F238E27FC236}">
                <a16:creationId xmlns:a16="http://schemas.microsoft.com/office/drawing/2014/main" id="{D99BCDF9-69E1-C059-248E-14CC86E57E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427395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>
          <a:extLst>
            <a:ext uri="{FF2B5EF4-FFF2-40B4-BE49-F238E27FC236}">
              <a16:creationId xmlns:a16="http://schemas.microsoft.com/office/drawing/2014/main" id="{3CDA2285-C51C-EC8E-57D4-7622906F9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588bb4af59_0_6:notes">
            <a:extLst>
              <a:ext uri="{FF2B5EF4-FFF2-40B4-BE49-F238E27FC236}">
                <a16:creationId xmlns:a16="http://schemas.microsoft.com/office/drawing/2014/main" id="{CB113C8B-BF5B-A767-A575-5A13254809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  <p:sp>
        <p:nvSpPr>
          <p:cNvPr id="71" name="Google Shape;71;g2588bb4af59_0_6:notes">
            <a:extLst>
              <a:ext uri="{FF2B5EF4-FFF2-40B4-BE49-F238E27FC236}">
                <a16:creationId xmlns:a16="http://schemas.microsoft.com/office/drawing/2014/main" id="{9602EECF-834C-9A51-4FDD-A106440EEB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719995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0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  <p:sp>
        <p:nvSpPr>
          <p:cNvPr id="118" name="Google Shape;11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783047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2"/>
          <p:cNvSpPr txBox="1">
            <a:spLocks noGrp="1"/>
          </p:cNvSpPr>
          <p:nvPr>
            <p:ph type="title"/>
          </p:nvPr>
        </p:nvSpPr>
        <p:spPr>
          <a:xfrm>
            <a:off x="3670591" y="1934454"/>
            <a:ext cx="4850817" cy="1000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4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body" idx="1"/>
          </p:nvPr>
        </p:nvSpPr>
        <p:spPr>
          <a:xfrm>
            <a:off x="1322908" y="2227490"/>
            <a:ext cx="9546183" cy="17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Google Shape;15;p12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2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ldNum" idx="12"/>
          </p:nvPr>
        </p:nvSpPr>
        <p:spPr>
          <a:xfrm>
            <a:off x="11034279" y="6514910"/>
            <a:ext cx="245109" cy="281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8100" marR="0" lvl="1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8100" marR="0" lvl="2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8100" marR="0" lvl="3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8100" marR="0" lvl="4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8100" marR="0" lvl="5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8100" marR="0" lvl="6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8100" marR="0" lvl="7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100" marR="0" lvl="8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3"/>
          <p:cNvSpPr txBox="1">
            <a:spLocks noGrp="1"/>
          </p:cNvSpPr>
          <p:nvPr>
            <p:ph type="title"/>
          </p:nvPr>
        </p:nvSpPr>
        <p:spPr>
          <a:xfrm>
            <a:off x="3670591" y="1934454"/>
            <a:ext cx="4850817" cy="1000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4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3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sldNum" idx="12"/>
          </p:nvPr>
        </p:nvSpPr>
        <p:spPr>
          <a:xfrm>
            <a:off x="11034279" y="6514910"/>
            <a:ext cx="245109" cy="281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8100" marR="0" lvl="1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8100" marR="0" lvl="2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8100" marR="0" lvl="3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8100" marR="0" lvl="4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8100" marR="0" lvl="5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8100" marR="0" lvl="6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8100" marR="0" lvl="7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100" marR="0" lvl="8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1"/>
          <p:cNvSpPr txBox="1">
            <a:spLocks noGrp="1"/>
          </p:cNvSpPr>
          <p:nvPr>
            <p:ph type="title"/>
          </p:nvPr>
        </p:nvSpPr>
        <p:spPr>
          <a:xfrm>
            <a:off x="3670591" y="1934454"/>
            <a:ext cx="4850817" cy="1000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1"/>
          <p:cNvSpPr txBox="1">
            <a:spLocks noGrp="1"/>
          </p:cNvSpPr>
          <p:nvPr>
            <p:ph type="body" idx="1"/>
          </p:nvPr>
        </p:nvSpPr>
        <p:spPr>
          <a:xfrm>
            <a:off x="1322908" y="2227490"/>
            <a:ext cx="9546183" cy="17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1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1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sldNum" idx="12"/>
          </p:nvPr>
        </p:nvSpPr>
        <p:spPr>
          <a:xfrm>
            <a:off x="11034279" y="6514910"/>
            <a:ext cx="245109" cy="281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8100" marR="0" lvl="1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8100" marR="0" lvl="2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8100" marR="0" lvl="3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8100" marR="0" lvl="4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8100" marR="0" lvl="5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8100" marR="0" lvl="6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8100" marR="0" lvl="7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100" marR="0" lvl="8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59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"/>
          <p:cNvSpPr txBox="1"/>
          <p:nvPr/>
        </p:nvSpPr>
        <p:spPr>
          <a:xfrm>
            <a:off x="2824085" y="3111060"/>
            <a:ext cx="8217213" cy="505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R="5080" lvl="0" algn="ctr">
              <a:buSzPts val="2400"/>
            </a:pP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: </a:t>
            </a: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Divide-and-Conquer</a:t>
            </a:r>
            <a:endParaRPr sz="3200" b="1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grpSp>
        <p:nvGrpSpPr>
          <p:cNvPr id="46" name="Google Shape;46;p1"/>
          <p:cNvGrpSpPr/>
          <p:nvPr/>
        </p:nvGrpSpPr>
        <p:grpSpPr>
          <a:xfrm>
            <a:off x="220205" y="1294727"/>
            <a:ext cx="1708370" cy="5091495"/>
            <a:chOff x="190553" y="1212849"/>
            <a:chExt cx="1813556" cy="5206028"/>
          </a:xfrm>
        </p:grpSpPr>
        <p:pic>
          <p:nvPicPr>
            <p:cNvPr id="47" name="Google Shape;47;p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29861" y="1212849"/>
              <a:ext cx="1374248" cy="10667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" name="Google Shape;48;p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90553" y="4840809"/>
              <a:ext cx="1098142" cy="157806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0" name="Google Shape;50;p1"/>
          <p:cNvSpPr txBox="1"/>
          <p:nvPr/>
        </p:nvSpPr>
        <p:spPr>
          <a:xfrm>
            <a:off x="10844949" y="6506676"/>
            <a:ext cx="392700" cy="321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1</a:t>
            </a:fld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54" name="Google Shape;54;p1"/>
          <p:cNvSpPr txBox="1">
            <a:spLocks noGrp="1"/>
          </p:cNvSpPr>
          <p:nvPr>
            <p:ph type="title"/>
          </p:nvPr>
        </p:nvSpPr>
        <p:spPr>
          <a:xfrm>
            <a:off x="3407178" y="912481"/>
            <a:ext cx="7306218" cy="737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algn="ctr"/>
            <a:r>
              <a:rPr lang="en-US" sz="4200" dirty="0">
                <a:solidFill>
                  <a:srgbClr val="0070C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DATA STRUCTURE AND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231FA1-7CA4-4B46-369C-A002334C79EF}"/>
              </a:ext>
            </a:extLst>
          </p:cNvPr>
          <p:cNvSpPr txBox="1"/>
          <p:nvPr/>
        </p:nvSpPr>
        <p:spPr>
          <a:xfrm>
            <a:off x="4800055" y="4663185"/>
            <a:ext cx="54603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HARSHAD V - 24ITR041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>
          <a:extLst>
            <a:ext uri="{FF2B5EF4-FFF2-40B4-BE49-F238E27FC236}">
              <a16:creationId xmlns:a16="http://schemas.microsoft.com/office/drawing/2014/main" id="{A5005D2A-2D8B-E30B-F382-B783991E7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588bb4af59_0_6">
            <a:extLst>
              <a:ext uri="{FF2B5EF4-FFF2-40B4-BE49-F238E27FC236}">
                <a16:creationId xmlns:a16="http://schemas.microsoft.com/office/drawing/2014/main" id="{2694D849-F08E-9E1D-BB6E-1A6C4B5DCC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3425" y="1038336"/>
            <a:ext cx="5347440" cy="566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Google Shape;74;g2588bb4af59_0_6">
            <a:extLst>
              <a:ext uri="{FF2B5EF4-FFF2-40B4-BE49-F238E27FC236}">
                <a16:creationId xmlns:a16="http://schemas.microsoft.com/office/drawing/2014/main" id="{372F1C8C-EA2D-5AB3-514A-6972E3F81917}"/>
              </a:ext>
            </a:extLst>
          </p:cNvPr>
          <p:cNvSpPr txBox="1"/>
          <p:nvPr/>
        </p:nvSpPr>
        <p:spPr>
          <a:xfrm>
            <a:off x="10937297" y="6514910"/>
            <a:ext cx="300300" cy="321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2</a:t>
            </a:fld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2583006" y="2206916"/>
                <a:ext cx="8730035" cy="33499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 an array of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elements, identify all pairs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such that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&gt;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ar-A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Each row is sorted in ascending order.</a:t>
                </a:r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Such pairs are defined as 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inversions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representing disorder in the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array.</a:t>
                </a:r>
                <a:r>
                  <a:rPr lang="en-US" sz="24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One</a:t>
                </a:r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r>
                  <a:rPr lang="en-US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book ID is missing</a:t>
                </a:r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from the matrix.</a:t>
                </a: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task is to count the 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total number of inversions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present.</a:t>
                </a: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3006" y="2206916"/>
                <a:ext cx="8730035" cy="3349956"/>
              </a:xfrm>
              <a:prstGeom prst="rect">
                <a:avLst/>
              </a:prstGeom>
              <a:blipFill>
                <a:blip r:embed="rId3"/>
                <a:stretch>
                  <a:fillRect l="-9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9209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>
          <a:extLst>
            <a:ext uri="{FF2B5EF4-FFF2-40B4-BE49-F238E27FC236}">
              <a16:creationId xmlns:a16="http://schemas.microsoft.com/office/drawing/2014/main" id="{FEC71B08-8BD6-3C15-D828-037A7B303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588bb4af59_0_6">
            <a:extLst>
              <a:ext uri="{FF2B5EF4-FFF2-40B4-BE49-F238E27FC236}">
                <a16:creationId xmlns:a16="http://schemas.microsoft.com/office/drawing/2014/main" id="{816858A6-403A-79AE-E4F8-B8064D5657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66611" y="677869"/>
            <a:ext cx="3275062" cy="566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r>
              <a:rPr lang="en-IN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74" name="Google Shape;74;g2588bb4af59_0_6">
            <a:extLst>
              <a:ext uri="{FF2B5EF4-FFF2-40B4-BE49-F238E27FC236}">
                <a16:creationId xmlns:a16="http://schemas.microsoft.com/office/drawing/2014/main" id="{F872E638-F05F-89CA-B075-DB43781136E4}"/>
              </a:ext>
            </a:extLst>
          </p:cNvPr>
          <p:cNvSpPr txBox="1"/>
          <p:nvPr/>
        </p:nvSpPr>
        <p:spPr>
          <a:xfrm>
            <a:off x="10937297" y="6514910"/>
            <a:ext cx="300300" cy="321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3</a:t>
            </a:fld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318836" y="1654728"/>
            <a:ext cx="9305127" cy="2874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the concept of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inversions in an array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 efficient solution using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 &amp; Conquer (Merge Sort)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 IDs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from 1 to n² (one missing).</a:t>
            </a:r>
            <a:br>
              <a:rPr lang="en-US" sz="2400" dirty="0"/>
            </a:br>
            <a:endParaRPr lang="en-US" sz="2400" dirty="0"/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endParaRPr lang="en-US" altLang="en-US" sz="2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2318835" y="3449760"/>
                <a:ext cx="8918761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lvl="0" indent="-3429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Wingdings" panose="05000000000000000000" pitchFamily="2" charset="2"/>
                  <a:buChar char="v"/>
                </a:pP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reduce time complexity from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IN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ar-A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alt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Takes an n × n integer matrix (with exactly one missing number).</a:t>
                </a:r>
              </a:p>
              <a:p>
                <a:pPr marL="342900" lvl="0" indent="-3429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Wingdings" panose="05000000000000000000" pitchFamily="2" charset="2"/>
                  <a:buChar char="v"/>
                </a:pPr>
                <a:endParaRPr lang="en-US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lvl="0" indent="-3429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Wingdings" panose="05000000000000000000" pitchFamily="2" charset="2"/>
                  <a:buChar char="v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implement the algorithm in 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Java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practical understanding.</a:t>
                </a:r>
                <a:endParaRPr lang="en-US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8835" y="3449760"/>
                <a:ext cx="8918761" cy="1569660"/>
              </a:xfrm>
              <a:prstGeom prst="rect">
                <a:avLst/>
              </a:prstGeom>
              <a:blipFill>
                <a:blip r:embed="rId3"/>
                <a:stretch>
                  <a:fillRect l="-889" t="-3113" r="-1777" b="-81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3374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>
          <a:extLst>
            <a:ext uri="{FF2B5EF4-FFF2-40B4-BE49-F238E27FC236}">
              <a16:creationId xmlns:a16="http://schemas.microsoft.com/office/drawing/2014/main" id="{BE7BF278-4DB1-E6ED-D14A-57BE2E8F8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588bb4af59_0_6">
            <a:extLst>
              <a:ext uri="{FF2B5EF4-FFF2-40B4-BE49-F238E27FC236}">
                <a16:creationId xmlns:a16="http://schemas.microsoft.com/office/drawing/2014/main" id="{EB9DB42D-4C55-FAA8-9BF4-718E096BA7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75900" y="389553"/>
            <a:ext cx="7518027" cy="566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r>
              <a:rPr lang="en-IN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 DESIGN TECHNIQUE</a:t>
            </a:r>
          </a:p>
        </p:txBody>
      </p:sp>
      <p:sp>
        <p:nvSpPr>
          <p:cNvPr id="74" name="Google Shape;74;g2588bb4af59_0_6">
            <a:extLst>
              <a:ext uri="{FF2B5EF4-FFF2-40B4-BE49-F238E27FC236}">
                <a16:creationId xmlns:a16="http://schemas.microsoft.com/office/drawing/2014/main" id="{FFFFC91A-822E-F052-852D-526173116CE8}"/>
              </a:ext>
            </a:extLst>
          </p:cNvPr>
          <p:cNvSpPr txBox="1"/>
          <p:nvPr/>
        </p:nvSpPr>
        <p:spPr>
          <a:xfrm>
            <a:off x="10937297" y="6514910"/>
            <a:ext cx="300300" cy="321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4</a:t>
            </a:fld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75" name="Google Shape;75;g2588bb4af59_0_6">
            <a:extLst>
              <a:ext uri="{FF2B5EF4-FFF2-40B4-BE49-F238E27FC236}">
                <a16:creationId xmlns:a16="http://schemas.microsoft.com/office/drawing/2014/main" id="{8C08CDC7-0146-EF3E-67E0-0CA75B7BA847}"/>
              </a:ext>
            </a:extLst>
          </p:cNvPr>
          <p:cNvSpPr txBox="1"/>
          <p:nvPr/>
        </p:nvSpPr>
        <p:spPr>
          <a:xfrm>
            <a:off x="1797836" y="2614290"/>
            <a:ext cx="10019853" cy="2668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endParaRPr lang="en-US" altLang="en-US" sz="2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175163" y="1322724"/>
            <a:ext cx="9767455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countInversions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left, right):</a:t>
            </a:r>
          </a:p>
          <a:p>
            <a:endPara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if left &gt;= right:</a:t>
            </a:r>
          </a:p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0</a:t>
            </a:r>
          </a:p>
          <a:p>
            <a:endPara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mid = (left + right) / 2</a:t>
            </a:r>
          </a:p>
          <a:p>
            <a:endPara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inv = 0</a:t>
            </a:r>
          </a:p>
          <a:p>
            <a:endPara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inv += 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countInversions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left, mid)</a:t>
            </a:r>
          </a:p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inv += 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countInversions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mid+1, right)</a:t>
            </a:r>
          </a:p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inv += 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mergeAndCount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left, mid, right)</a:t>
            </a:r>
          </a:p>
          <a:p>
            <a:endPara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return inv</a:t>
            </a:r>
          </a:p>
        </p:txBody>
      </p:sp>
    </p:spTree>
    <p:extLst>
      <p:ext uri="{BB962C8B-B14F-4D97-AF65-F5344CB8AC3E}">
        <p14:creationId xmlns:p14="http://schemas.microsoft.com/office/powerpoint/2010/main" val="124422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>
          <a:extLst>
            <a:ext uri="{FF2B5EF4-FFF2-40B4-BE49-F238E27FC236}">
              <a16:creationId xmlns:a16="http://schemas.microsoft.com/office/drawing/2014/main" id="{ED6B40C5-9B6D-D58A-A417-B070897F0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588bb4af59_0_6">
            <a:extLst>
              <a:ext uri="{FF2B5EF4-FFF2-40B4-BE49-F238E27FC236}">
                <a16:creationId xmlns:a16="http://schemas.microsoft.com/office/drawing/2014/main" id="{6788A32C-21C3-4174-63CE-8D4ADBBE3F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36088" y="644540"/>
            <a:ext cx="2903804" cy="566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r>
              <a:rPr lang="en-IN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</a:p>
        </p:txBody>
      </p:sp>
      <p:sp>
        <p:nvSpPr>
          <p:cNvPr id="74" name="Google Shape;74;g2588bb4af59_0_6">
            <a:extLst>
              <a:ext uri="{FF2B5EF4-FFF2-40B4-BE49-F238E27FC236}">
                <a16:creationId xmlns:a16="http://schemas.microsoft.com/office/drawing/2014/main" id="{92C7A773-0634-5320-72E8-B54AD70FB967}"/>
              </a:ext>
            </a:extLst>
          </p:cNvPr>
          <p:cNvSpPr txBox="1"/>
          <p:nvPr/>
        </p:nvSpPr>
        <p:spPr>
          <a:xfrm>
            <a:off x="10937297" y="6514910"/>
            <a:ext cx="300300" cy="321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5</a:t>
            </a:fld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75" name="Google Shape;75;g2588bb4af59_0_6">
            <a:extLst>
              <a:ext uri="{FF2B5EF4-FFF2-40B4-BE49-F238E27FC236}">
                <a16:creationId xmlns:a16="http://schemas.microsoft.com/office/drawing/2014/main" id="{B560F645-38F5-ABC3-D3B9-A90DF22CC72F}"/>
              </a:ext>
            </a:extLst>
          </p:cNvPr>
          <p:cNvSpPr txBox="1"/>
          <p:nvPr/>
        </p:nvSpPr>
        <p:spPr>
          <a:xfrm>
            <a:off x="1884922" y="2701376"/>
            <a:ext cx="10019853" cy="1756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endParaRPr lang="en-US" altLang="en-US" sz="2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-426949"/>
            <a:ext cx="65" cy="853898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285660" rIns="0" bIns="2856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884922" y="1211362"/>
            <a:ext cx="10810265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Assume matrix contains IDs from 1 to n² except one missing.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 from matrix[0][n-1] (top-right).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Initialize expected = 1.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 within bounds: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 matrix[</a:t>
            </a:r>
            <a:r>
              <a:rPr lang="en-US" alt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][j] == expected → increment expected, move left (j--).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 matrix[</a:t>
            </a:r>
            <a:r>
              <a:rPr lang="en-US" alt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][j] &lt; expected → move down (</a:t>
            </a:r>
            <a:r>
              <a:rPr lang="en-US" alt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++).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 matrix[</a:t>
            </a:r>
            <a:r>
              <a:rPr lang="en-US" alt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][j] &gt; expected → missing ID = expected, stop.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loop ends without finding mismatch, missing ID is expected.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0115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>
          <a:extLst>
            <a:ext uri="{FF2B5EF4-FFF2-40B4-BE49-F238E27FC236}">
              <a16:creationId xmlns:a16="http://schemas.microsoft.com/office/drawing/2014/main" id="{C9EF6631-048C-473B-8E84-AB1D28712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588bb4af59_0_6">
            <a:extLst>
              <a:ext uri="{FF2B5EF4-FFF2-40B4-BE49-F238E27FC236}">
                <a16:creationId xmlns:a16="http://schemas.microsoft.com/office/drawing/2014/main" id="{4EC160FD-B1EA-1418-5A57-0F7BEAD094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3776" y="193964"/>
            <a:ext cx="7239573" cy="566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algn="ctr"/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CODING</a:t>
            </a:r>
            <a:endParaRPr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Google Shape;74;g2588bb4af59_0_6">
            <a:extLst>
              <a:ext uri="{FF2B5EF4-FFF2-40B4-BE49-F238E27FC236}">
                <a16:creationId xmlns:a16="http://schemas.microsoft.com/office/drawing/2014/main" id="{8E821B77-111E-5C67-A69D-B2FBE68B8DA5}"/>
              </a:ext>
            </a:extLst>
          </p:cNvPr>
          <p:cNvSpPr txBox="1"/>
          <p:nvPr/>
        </p:nvSpPr>
        <p:spPr>
          <a:xfrm>
            <a:off x="10937297" y="6514910"/>
            <a:ext cx="300300" cy="321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6</a:t>
            </a:fld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14038" y="1274084"/>
            <a:ext cx="4859051" cy="54014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MissingBookID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static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findMissingID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[][] matrix,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n) {</a:t>
            </a: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0, j = n - 1;</a:t>
            </a: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while (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n &amp;&amp; j &gt;= 0) {</a:t>
            </a: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expected =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n + j + 1;</a:t>
            </a: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if (matrix[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][j] == expected) {</a:t>
            </a: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// Move to next row in same column</a:t>
            </a: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++;</a:t>
            </a: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} else {</a:t>
            </a: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// Found mismatch — missing number is expected</a:t>
            </a: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return expected;</a:t>
            </a: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}</a:t>
            </a: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// If we exit loop, missing is the last number</a:t>
            </a: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n * n;</a:t>
            </a: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b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634711" y="250214"/>
            <a:ext cx="4602886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static void main(String[]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 = 4;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[][] matrix = {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{1, 2, 3, 4},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{5, 6, 7, 8},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{9, 11, 12, 13},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{14, 15, 16, 0}  // 0 is placeholder for missing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};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[][] mat = {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{1, 2, 3, 4},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{5, 6, 7, 8},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{9, 11, 12, 13},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{14, 15, 16, 17}  // but 17 is &gt;16, so wrong. Let's fix.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};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[][]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validMat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{1, 2, 3, 4},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{5, 6, 7, 8},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{9, 11, 12, 13},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{14, 15, 16, -1}  // -1 dummy, but we ignore last cell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};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[][]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testMat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{1, 2, 3},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{4, 6, 7},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{8, 9, -1}  // -1 ignored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("Missing ID: " +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findMissingID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testMat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3));  // Output: 5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7276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1847" y="548998"/>
            <a:ext cx="4850817" cy="553998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CODING OUTPUT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78959D-F035-2258-63B6-E23BFD616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726" y="1451436"/>
            <a:ext cx="9353107" cy="506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831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1609" y="323590"/>
            <a:ext cx="7731700" cy="729356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 DERIVATION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-156928"/>
            <a:ext cx="65" cy="313856"/>
          </a:xfrm>
          <a:prstGeom prst="rect">
            <a:avLst/>
          </a:prstGeom>
          <a:solidFill>
            <a:srgbClr val="15151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36501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139662" y="1331027"/>
            <a:ext cx="8894617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 i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= row index, 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= column index. Initial: 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=0, j=n−1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−1.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each iteration: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 matrix[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][j]=i⋅n+j+1matrix[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]=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⋅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 then i←i+1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←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 j←j−1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←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−1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 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= number of down moves, 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= number of left moves.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 m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iterations:</a:t>
            </a:r>
          </a:p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d,j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=n−1−l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−1−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m=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d+l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Termination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condition: 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or j=−1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=−1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1: 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n⇒d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n⇒m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n+l≤n+n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=2n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⇒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⇒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≤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=2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2: j=−1⇒n−1−l=−1⇒l=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n⇒m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d+n≤n+n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=2n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=−1⇒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−1−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=−1⇒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⇒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≤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=2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m≤2n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≤2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per iteration = constant c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T(n)≤2n⋅c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)≤2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⋅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bound: Need to check at least 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positions in worst case ⇒T(n)≥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c⋅n⇒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)≥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⋅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T(n)=</a:t>
            </a:r>
            <a:r>
              <a:rPr lang="el-G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Θ(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n)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</a:t>
            </a:r>
            <a:r>
              <a:rPr lang="el-G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Θ(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8500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51245" y="819505"/>
            <a:ext cx="3021155" cy="553998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704110" y="1768923"/>
            <a:ext cx="986443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Decrease-and-conquer efficiently solves the missing element problem in a sorted matrix.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Achieves 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O(n)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time, much faster than brute force O(n²).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Works well for 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library systems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integrity checks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 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sorted data validation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 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top-right start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technique is optimal for row-wise &amp; column-wise sorted matrices.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12946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"/>
          <p:cNvSpPr txBox="1">
            <a:spLocks noGrp="1"/>
          </p:cNvSpPr>
          <p:nvPr>
            <p:ph type="title"/>
          </p:nvPr>
        </p:nvSpPr>
        <p:spPr>
          <a:xfrm>
            <a:off x="2022475" y="2750675"/>
            <a:ext cx="8862300" cy="9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065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Google Shape;121;p10"/>
          <p:cNvSpPr txBox="1">
            <a:spLocks noGrp="1"/>
          </p:cNvSpPr>
          <p:nvPr>
            <p:ph type="sldNum" idx="12"/>
          </p:nvPr>
        </p:nvSpPr>
        <p:spPr>
          <a:xfrm>
            <a:off x="10713466" y="6514900"/>
            <a:ext cx="566100" cy="321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IoT_Project_Template[1]</Template>
  <TotalTime>382</TotalTime>
  <Words>1086</Words>
  <Application>Microsoft Office PowerPoint</Application>
  <PresentationFormat>Widescreen</PresentationFormat>
  <Paragraphs>121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Cambria Math</vt:lpstr>
      <vt:lpstr>Times New Roman</vt:lpstr>
      <vt:lpstr>Wingdings</vt:lpstr>
      <vt:lpstr>Office Theme</vt:lpstr>
      <vt:lpstr>DATA STRUCTURE AND ANALYSIS</vt:lpstr>
      <vt:lpstr>PROBLEM STATEMENT</vt:lpstr>
      <vt:lpstr>OBJECTIVE</vt:lpstr>
      <vt:lpstr>ALGORITHM DESIGN TECHNIQUE</vt:lpstr>
      <vt:lpstr>APPROACH</vt:lpstr>
      <vt:lpstr>CODING</vt:lpstr>
      <vt:lpstr>CODING OUTPUT</vt:lpstr>
      <vt:lpstr>TIME COMPLEXITY DERIVATION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IoT-Based Smart Shoes for Visually Impaired People </dc:title>
  <dc:creator>Ajay Vikram</dc:creator>
  <cp:lastModifiedBy>harshadvijay97@gmail.com</cp:lastModifiedBy>
  <cp:revision>34</cp:revision>
  <dcterms:created xsi:type="dcterms:W3CDTF">2026-02-08T09:44:27Z</dcterms:created>
  <dcterms:modified xsi:type="dcterms:W3CDTF">2026-04-30T14:51:17Z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ICV">
    <vt:lpwstr>CCA21B7555E24D3FB40348EB3CE2AD24</vt:lpwstr>
  </property>
  <property fmtid="{D5CDD505-2E9C-101B-9397-08002B2CF9AE}" pid="4" name="KSOProductBuildVer">
    <vt:lpwstr>1033-11.2.0.11440</vt:lpwstr>
  </property>
</Properties>
</file>